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17"/>
  </p:notesMasterIdLst>
  <p:sldIdLst>
    <p:sldId id="256" r:id="rId2"/>
    <p:sldId id="276" r:id="rId3"/>
    <p:sldId id="257" r:id="rId4"/>
    <p:sldId id="258" r:id="rId5"/>
    <p:sldId id="275" r:id="rId6"/>
    <p:sldId id="262" r:id="rId7"/>
    <p:sldId id="263" r:id="rId8"/>
    <p:sldId id="264" r:id="rId9"/>
    <p:sldId id="265" r:id="rId10"/>
    <p:sldId id="266" r:id="rId11"/>
    <p:sldId id="267" r:id="rId12"/>
    <p:sldId id="273"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289"/>
    <p:restoredTop sz="88085"/>
  </p:normalViewPr>
  <p:slideViewPr>
    <p:cSldViewPr snapToGrid="0">
      <p:cViewPr varScale="1">
        <p:scale>
          <a:sx n="98" d="100"/>
          <a:sy n="98" d="100"/>
        </p:scale>
        <p:origin x="216" y="384"/>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ADC92D-E9F6-754C-B3E8-C74B7F59C641}" type="datetimeFigureOut">
              <a:rPr lang="en-US" smtClean="0"/>
              <a:t>1/31/25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4BBA37-7D1A-A84E-BC91-3C70722AA186}" type="slidenum">
              <a:rPr lang="en-US" smtClean="0"/>
              <a:t>‹#›</a:t>
            </a:fld>
            <a:endParaRPr lang="en-US"/>
          </a:p>
        </p:txBody>
      </p:sp>
    </p:spTree>
    <p:extLst>
      <p:ext uri="{BB962C8B-B14F-4D97-AF65-F5344CB8AC3E}">
        <p14:creationId xmlns:p14="http://schemas.microsoft.com/office/powerpoint/2010/main" val="4085028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4BBA37-7D1A-A84E-BC91-3C70722AA186}" type="slidenum">
              <a:rPr lang="en-US" smtClean="0"/>
              <a:t>1</a:t>
            </a:fld>
            <a:endParaRPr lang="en-US"/>
          </a:p>
        </p:txBody>
      </p:sp>
    </p:spTree>
    <p:extLst>
      <p:ext uri="{BB962C8B-B14F-4D97-AF65-F5344CB8AC3E}">
        <p14:creationId xmlns:p14="http://schemas.microsoft.com/office/powerpoint/2010/main" val="2608341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Cambrian Explosion </a:t>
            </a:r>
          </a:p>
          <a:p>
            <a:endParaRPr lang="en-US" dirty="0"/>
          </a:p>
          <a:p>
            <a:r>
              <a:rPr lang="en-US" dirty="0"/>
              <a:t>A- life on rapidly increased during this period,</a:t>
            </a:r>
          </a:p>
          <a:p>
            <a:r>
              <a:rPr lang="en-US" dirty="0"/>
              <a:t>B- multicellular organisms appeared in large numbers – shaping the early forms of biodiversity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a:t>
            </a:r>
            <a:r>
              <a:rPr lang="en-US" dirty="0">
                <a:latin typeface="Arial" panose="020B0604020202020204" pitchFamily="34" charset="0"/>
                <a:cs typeface="Arial" panose="020B0604020202020204" pitchFamily="34" charset="0"/>
              </a:rPr>
              <a:t>Permian-Triassic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 Also commonly known as </a:t>
            </a:r>
            <a:r>
              <a:rPr lang="en-US" dirty="0"/>
              <a:t>Great DYING -  the most severe extinction event in Earth’s history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B- 96% of marine species and 70% of land species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 Took 4-6 million years to recover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r>
              <a:rPr lang="en-US" dirty="0"/>
              <a:t>3- Aristotle Classification System</a:t>
            </a:r>
          </a:p>
          <a:p>
            <a:endParaRPr lang="en-US" dirty="0"/>
          </a:p>
          <a:p>
            <a:r>
              <a:rPr lang="en-US" dirty="0"/>
              <a:t>A- Was the first philosopher to classify animals systematically </a:t>
            </a:r>
          </a:p>
          <a:p>
            <a:r>
              <a:rPr lang="en-US" dirty="0"/>
              <a:t>B-  Based on physical traits, behaviours, and habitats </a:t>
            </a:r>
          </a:p>
          <a:p>
            <a:r>
              <a:rPr lang="en-US" dirty="0"/>
              <a:t>C- His system was influenced for over 2,000 years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r>
              <a:rPr lang="en-US" dirty="0"/>
              <a:t>4- Fixed Biodiversity Beliefs </a:t>
            </a:r>
          </a:p>
          <a:p>
            <a:endParaRPr lang="en-US" dirty="0"/>
          </a:p>
          <a:p>
            <a:r>
              <a:rPr lang="en-US" dirty="0"/>
              <a:t>A-  many believed that species had always existed and it never changed </a:t>
            </a:r>
          </a:p>
          <a:p>
            <a:r>
              <a:rPr lang="en-US" dirty="0"/>
              <a:t>B-  Extinction was not recognised as a natural process  </a:t>
            </a:r>
          </a:p>
          <a:p>
            <a:r>
              <a:rPr lang="en-US" dirty="0"/>
              <a:t>C- Influence by religious beliefs of the time</a:t>
            </a:r>
          </a:p>
        </p:txBody>
      </p:sp>
      <p:sp>
        <p:nvSpPr>
          <p:cNvPr id="4" name="Slide Number Placeholder 3"/>
          <p:cNvSpPr>
            <a:spLocks noGrp="1"/>
          </p:cNvSpPr>
          <p:nvPr>
            <p:ph type="sldNum" sz="quarter" idx="5"/>
          </p:nvPr>
        </p:nvSpPr>
        <p:spPr/>
        <p:txBody>
          <a:bodyPr/>
          <a:lstStyle/>
          <a:p>
            <a:fld id="{E34BBA37-7D1A-A84E-BC91-3C70722AA186}" type="slidenum">
              <a:rPr lang="en-US" smtClean="0"/>
              <a:t>2</a:t>
            </a:fld>
            <a:endParaRPr lang="en-US"/>
          </a:p>
        </p:txBody>
      </p:sp>
    </p:spTree>
    <p:extLst>
      <p:ext uri="{BB962C8B-B14F-4D97-AF65-F5344CB8AC3E}">
        <p14:creationId xmlns:p14="http://schemas.microsoft.com/office/powerpoint/2010/main" val="117455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Biodiversity monitoring has been around for a long time; by creating this project, it encourages the contribution of citizen science – the study in which ordinary people can contribute to the enhancement of knowledge that scientists possess. BBMAP was established to allow citizens to monitor diversity within their area, explore, and document any encounters they may have. Users will be able to use photo identification, sound identification, and geotagging for their findings to help them learn about what exists in the natural world. Unique features like geotagging enable users to record their findings and display them on an interactive map; users can see all their conclusions, and with the educational tool, they can look up standard descriptions of what a bird may look like and sound like to assist them in identifying what they found during their explorations. </a:t>
            </a:r>
          </a:p>
          <a:p>
            <a:endParaRPr lang="en-US" dirty="0"/>
          </a:p>
        </p:txBody>
      </p:sp>
      <p:sp>
        <p:nvSpPr>
          <p:cNvPr id="4" name="Slide Number Placeholder 3"/>
          <p:cNvSpPr>
            <a:spLocks noGrp="1"/>
          </p:cNvSpPr>
          <p:nvPr>
            <p:ph type="sldNum" sz="quarter" idx="5"/>
          </p:nvPr>
        </p:nvSpPr>
        <p:spPr/>
        <p:txBody>
          <a:bodyPr/>
          <a:lstStyle/>
          <a:p>
            <a:fld id="{E34BBA37-7D1A-A84E-BC91-3C70722AA186}" type="slidenum">
              <a:rPr lang="en-US" smtClean="0"/>
              <a:t>3</a:t>
            </a:fld>
            <a:endParaRPr lang="en-US"/>
          </a:p>
        </p:txBody>
      </p:sp>
    </p:spTree>
    <p:extLst>
      <p:ext uri="{BB962C8B-B14F-4D97-AF65-F5344CB8AC3E}">
        <p14:creationId xmlns:p14="http://schemas.microsoft.com/office/powerpoint/2010/main" val="3051601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these aims were </a:t>
            </a:r>
          </a:p>
          <a:p>
            <a:endParaRPr lang="en-US" dirty="0"/>
          </a:p>
          <a:p>
            <a:r>
              <a:rPr lang="en-US" dirty="0"/>
              <a:t>1-  Evaluate Similar Platforms </a:t>
            </a:r>
          </a:p>
          <a:p>
            <a:endParaRPr lang="en-US" dirty="0"/>
          </a:p>
          <a:p>
            <a:r>
              <a:rPr lang="en-US" dirty="0"/>
              <a:t>Talk about: </a:t>
            </a:r>
          </a:p>
          <a:p>
            <a:endParaRPr lang="en-US" dirty="0"/>
          </a:p>
          <a:p>
            <a:r>
              <a:rPr lang="en-US" dirty="0"/>
              <a:t>A- BirdNet</a:t>
            </a:r>
          </a:p>
          <a:p>
            <a:r>
              <a:rPr lang="en-US" dirty="0"/>
              <a:t>B- BIOPHONE, </a:t>
            </a:r>
          </a:p>
          <a:p>
            <a:r>
              <a:rPr lang="en-US" dirty="0"/>
              <a:t>C- DEVELOPMENT  ASIA (MOBILE APPS, DRONES, Remote Sensing, </a:t>
            </a:r>
          </a:p>
          <a:p>
            <a:r>
              <a:rPr lang="en-US" dirty="0"/>
              <a:t>E- Machine Learning And AI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a:t>
            </a:r>
            <a:r>
              <a:rPr lang="en-US" dirty="0">
                <a:latin typeface="Arial" panose="020B0604020202020204" pitchFamily="34" charset="0"/>
                <a:cs typeface="Arial" panose="020B0604020202020204" pitchFamily="34" charset="0"/>
              </a:rPr>
              <a:t>Research Suitable Technologies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 Existing people who </a:t>
            </a:r>
            <a:r>
              <a:rPr lang="en-US" dirty="0" err="1">
                <a:latin typeface="Arial" panose="020B0604020202020204" pitchFamily="34" charset="0"/>
                <a:cs typeface="Arial" panose="020B0604020202020204" pitchFamily="34" charset="0"/>
              </a:rPr>
              <a:t>haved</a:t>
            </a:r>
            <a:r>
              <a:rPr lang="en-US" dirty="0">
                <a:latin typeface="Arial" panose="020B0604020202020204" pitchFamily="34" charset="0"/>
                <a:cs typeface="Arial" panose="020B0604020202020204" pitchFamily="34" charset="0"/>
              </a:rPr>
              <a:t> – (Convolutional Neural Networks)  - in Image and Sound - Importance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r>
              <a:rPr lang="en-US" dirty="0"/>
              <a:t>3- Develop and Build </a:t>
            </a:r>
          </a:p>
          <a:p>
            <a:endParaRPr lang="en-US" dirty="0"/>
          </a:p>
          <a:p>
            <a:r>
              <a:rPr lang="en-US" dirty="0"/>
              <a:t>A- Talk about the Dataset – CUB-200-2011 and Bird of Pray – what you did with them - train and test – data augmentation</a:t>
            </a:r>
          </a:p>
          <a:p>
            <a:r>
              <a:rPr lang="en-US" dirty="0"/>
              <a:t>B- Built my own CNN model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r>
              <a:rPr lang="en-US" dirty="0"/>
              <a:t>4- Evaluate Functionality and Feature</a:t>
            </a:r>
          </a:p>
          <a:p>
            <a:endParaRPr lang="en-US" dirty="0"/>
          </a:p>
          <a:p>
            <a:r>
              <a:rPr lang="en-US" dirty="0"/>
              <a:t>A- Talk about the uniqueness of BBMAP – Markers – Cheat Sheet – Reverse Geo Coding </a:t>
            </a:r>
          </a:p>
          <a:p>
            <a:endParaRPr lang="en-US" dirty="0"/>
          </a:p>
        </p:txBody>
      </p:sp>
      <p:sp>
        <p:nvSpPr>
          <p:cNvPr id="4" name="Slide Number Placeholder 3"/>
          <p:cNvSpPr>
            <a:spLocks noGrp="1"/>
          </p:cNvSpPr>
          <p:nvPr>
            <p:ph type="sldNum" sz="quarter" idx="5"/>
          </p:nvPr>
        </p:nvSpPr>
        <p:spPr/>
        <p:txBody>
          <a:bodyPr/>
          <a:lstStyle/>
          <a:p>
            <a:fld id="{E34BBA37-7D1A-A84E-BC91-3C70722AA186}" type="slidenum">
              <a:rPr lang="en-US" smtClean="0"/>
              <a:t>4</a:t>
            </a:fld>
            <a:endParaRPr lang="en-US"/>
          </a:p>
        </p:txBody>
      </p:sp>
    </p:spTree>
    <p:extLst>
      <p:ext uri="{BB962C8B-B14F-4D97-AF65-F5344CB8AC3E}">
        <p14:creationId xmlns:p14="http://schemas.microsoft.com/office/powerpoint/2010/main" val="1841275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Reason for choosing React Native</a:t>
            </a:r>
          </a:p>
          <a:p>
            <a:r>
              <a:rPr lang="en-US" dirty="0"/>
              <a:t>------------------------------------------------------------------------------------------------------------------------------------</a:t>
            </a:r>
          </a:p>
          <a:p>
            <a:r>
              <a:rPr lang="en-US" dirty="0"/>
              <a:t>A- React Native allows it to be both in Android and iOS </a:t>
            </a:r>
          </a:p>
          <a:p>
            <a:r>
              <a:rPr lang="en-US" dirty="0"/>
              <a:t>B- It uses JavaScript and React, making this easy-to-learn</a:t>
            </a:r>
          </a:p>
          <a:p>
            <a:r>
              <a:rPr lang="en-US" dirty="0"/>
              <a:t>C- Allows hot reloading, helping with quick and instant updates and no need to start to restart the app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Reason for choosing Expo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An opensource framework that allows the creation react native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A.1 – Things like Camera Location is pre-built libraries, users can test and deploy, making it perfect for mobile application</a:t>
            </a:r>
          </a:p>
          <a:p>
            <a:endParaRPr lang="en-US" dirty="0"/>
          </a:p>
          <a:p>
            <a:endParaRPr lang="en-US" dirty="0"/>
          </a:p>
        </p:txBody>
      </p:sp>
      <p:sp>
        <p:nvSpPr>
          <p:cNvPr id="4" name="Slide Number Placeholder 3"/>
          <p:cNvSpPr>
            <a:spLocks noGrp="1"/>
          </p:cNvSpPr>
          <p:nvPr>
            <p:ph type="sldNum" sz="quarter" idx="5"/>
          </p:nvPr>
        </p:nvSpPr>
        <p:spPr/>
        <p:txBody>
          <a:bodyPr/>
          <a:lstStyle/>
          <a:p>
            <a:fld id="{E34BBA37-7D1A-A84E-BC91-3C70722AA186}" type="slidenum">
              <a:rPr lang="en-US" smtClean="0"/>
              <a:t>5</a:t>
            </a:fld>
            <a:endParaRPr lang="en-US"/>
          </a:p>
        </p:txBody>
      </p:sp>
    </p:spTree>
    <p:extLst>
      <p:ext uri="{BB962C8B-B14F-4D97-AF65-F5344CB8AC3E}">
        <p14:creationId xmlns:p14="http://schemas.microsoft.com/office/powerpoint/2010/main" val="4085528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minimalist approach, the same UI throughout the whole app to avoid confusion to the user, one theme for smooth UX</a:t>
            </a:r>
          </a:p>
        </p:txBody>
      </p:sp>
      <p:sp>
        <p:nvSpPr>
          <p:cNvPr id="4" name="Slide Number Placeholder 3"/>
          <p:cNvSpPr>
            <a:spLocks noGrp="1"/>
          </p:cNvSpPr>
          <p:nvPr>
            <p:ph type="sldNum" sz="quarter" idx="5"/>
          </p:nvPr>
        </p:nvSpPr>
        <p:spPr/>
        <p:txBody>
          <a:bodyPr/>
          <a:lstStyle/>
          <a:p>
            <a:fld id="{E34BBA37-7D1A-A84E-BC91-3C70722AA186}" type="slidenum">
              <a:rPr lang="en-US" smtClean="0"/>
              <a:t>6</a:t>
            </a:fld>
            <a:endParaRPr lang="en-US"/>
          </a:p>
        </p:txBody>
      </p:sp>
    </p:spTree>
    <p:extLst>
      <p:ext uri="{BB962C8B-B14F-4D97-AF65-F5344CB8AC3E}">
        <p14:creationId xmlns:p14="http://schemas.microsoft.com/office/powerpoint/2010/main" val="4028713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user can go to the explore screen (where they can decide whether they want to identify a bird through a photo or sound or even use the interactive map feature (geotagging) to display their findings in real-time</a:t>
            </a:r>
          </a:p>
          <a:p>
            <a:endParaRPr lang="en-US" dirty="0"/>
          </a:p>
        </p:txBody>
      </p:sp>
      <p:sp>
        <p:nvSpPr>
          <p:cNvPr id="4" name="Slide Number Placeholder 3"/>
          <p:cNvSpPr>
            <a:spLocks noGrp="1"/>
          </p:cNvSpPr>
          <p:nvPr>
            <p:ph type="sldNum" sz="quarter" idx="5"/>
          </p:nvPr>
        </p:nvSpPr>
        <p:spPr/>
        <p:txBody>
          <a:bodyPr/>
          <a:lstStyle/>
          <a:p>
            <a:fld id="{E34BBA37-7D1A-A84E-BC91-3C70722AA186}" type="slidenum">
              <a:rPr lang="en-US" smtClean="0"/>
              <a:t>7</a:t>
            </a:fld>
            <a:endParaRPr lang="en-US"/>
          </a:p>
        </p:txBody>
      </p:sp>
    </p:spTree>
    <p:extLst>
      <p:ext uri="{BB962C8B-B14F-4D97-AF65-F5344CB8AC3E}">
        <p14:creationId xmlns:p14="http://schemas.microsoft.com/office/powerpoint/2010/main" val="1931669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Users can upload a photo from their gallery through the photo identification feature, and when clicking on the analysed image, it will inform the user what bird it is. </a:t>
            </a:r>
          </a:p>
          <a:p>
            <a:pPr algn="just"/>
            <a:endParaRPr lang="en-US" dirty="0"/>
          </a:p>
          <a:p>
            <a:pPr algn="just"/>
            <a:endParaRPr lang="en-US" dirty="0"/>
          </a:p>
          <a:p>
            <a:pPr algn="just"/>
            <a:r>
              <a:rPr lang="en-US" dirty="0"/>
              <a:t>Users can start a recording of their surroundings, and once stopped, they can save their findings with a unique name (shown in slide 10), if the sound identification recognises an existing name, an alert appears telling users to try again, and users then can also listen to their recordings, resume it where they left off and delete if needed.  Plus, if the user leaves any section empty or clicks a button that’s not filled in same as geo-tagging, the application will let the user know) </a:t>
            </a:r>
          </a:p>
          <a:p>
            <a:endParaRPr lang="en-US" dirty="0"/>
          </a:p>
        </p:txBody>
      </p:sp>
      <p:sp>
        <p:nvSpPr>
          <p:cNvPr id="4" name="Slide Number Placeholder 3"/>
          <p:cNvSpPr>
            <a:spLocks noGrp="1"/>
          </p:cNvSpPr>
          <p:nvPr>
            <p:ph type="sldNum" sz="quarter" idx="5"/>
          </p:nvPr>
        </p:nvSpPr>
        <p:spPr/>
        <p:txBody>
          <a:bodyPr/>
          <a:lstStyle/>
          <a:p>
            <a:fld id="{E34BBA37-7D1A-A84E-BC91-3C70722AA186}" type="slidenum">
              <a:rPr lang="en-US" smtClean="0"/>
              <a:t>8</a:t>
            </a:fld>
            <a:endParaRPr lang="en-US"/>
          </a:p>
        </p:txBody>
      </p:sp>
    </p:spTree>
    <p:extLst>
      <p:ext uri="{BB962C8B-B14F-4D97-AF65-F5344CB8AC3E}">
        <p14:creationId xmlns:p14="http://schemas.microsoft.com/office/powerpoint/2010/main" val="2312598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this saving feature - Once the user has stopped their recording, they can save their findings with a unique name. If the existing names or even sections are left, the device will let the user know – the same as geotagging. </a:t>
            </a:r>
          </a:p>
          <a:p>
            <a:endParaRPr lang="en-US" dirty="0"/>
          </a:p>
        </p:txBody>
      </p:sp>
      <p:sp>
        <p:nvSpPr>
          <p:cNvPr id="4" name="Slide Number Placeholder 3"/>
          <p:cNvSpPr>
            <a:spLocks noGrp="1"/>
          </p:cNvSpPr>
          <p:nvPr>
            <p:ph type="sldNum" sz="quarter" idx="5"/>
          </p:nvPr>
        </p:nvSpPr>
        <p:spPr/>
        <p:txBody>
          <a:bodyPr/>
          <a:lstStyle/>
          <a:p>
            <a:fld id="{E34BBA37-7D1A-A84E-BC91-3C70722AA186}" type="slidenum">
              <a:rPr lang="en-US" smtClean="0"/>
              <a:t>9</a:t>
            </a:fld>
            <a:endParaRPr lang="en-US"/>
          </a:p>
        </p:txBody>
      </p:sp>
    </p:spTree>
    <p:extLst>
      <p:ext uri="{BB962C8B-B14F-4D97-AF65-F5344CB8AC3E}">
        <p14:creationId xmlns:p14="http://schemas.microsoft.com/office/powerpoint/2010/main" val="2967103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educational tool to help users name their recordings and fill information at the geotagging side with some common birds, and used to educate, linking to the aim of raising awareness of biodiversity.</a:t>
            </a:r>
          </a:p>
        </p:txBody>
      </p:sp>
      <p:sp>
        <p:nvSpPr>
          <p:cNvPr id="4" name="Slide Number Placeholder 3"/>
          <p:cNvSpPr>
            <a:spLocks noGrp="1"/>
          </p:cNvSpPr>
          <p:nvPr>
            <p:ph type="sldNum" sz="quarter" idx="5"/>
          </p:nvPr>
        </p:nvSpPr>
        <p:spPr/>
        <p:txBody>
          <a:bodyPr/>
          <a:lstStyle/>
          <a:p>
            <a:fld id="{E34BBA37-7D1A-A84E-BC91-3C70722AA186}" type="slidenum">
              <a:rPr lang="en-US" smtClean="0"/>
              <a:t>10</a:t>
            </a:fld>
            <a:endParaRPr lang="en-US"/>
          </a:p>
        </p:txBody>
      </p:sp>
    </p:spTree>
    <p:extLst>
      <p:ext uri="{BB962C8B-B14F-4D97-AF65-F5344CB8AC3E}">
        <p14:creationId xmlns:p14="http://schemas.microsoft.com/office/powerpoint/2010/main" val="3635235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allows users to put in the name of their bird, the </a:t>
            </a:r>
            <a:r>
              <a:rPr lang="en-US" dirty="0" err="1"/>
              <a:t>exaxct</a:t>
            </a:r>
            <a:r>
              <a:rPr lang="en-US" dirty="0"/>
              <a:t> location (used reverse geocoding) and the description of the bird of what they saw and then with that information a physically marker is placed on the map to show the user that this is what they found out while exploring. When clicking on the marker, the user can see all their information with they inputted in and the longitude and latitude also, this linking with the record, observe and monitor. </a:t>
            </a:r>
          </a:p>
        </p:txBody>
      </p:sp>
      <p:sp>
        <p:nvSpPr>
          <p:cNvPr id="4" name="Slide Number Placeholder 3"/>
          <p:cNvSpPr>
            <a:spLocks noGrp="1"/>
          </p:cNvSpPr>
          <p:nvPr>
            <p:ph type="sldNum" sz="quarter" idx="5"/>
          </p:nvPr>
        </p:nvSpPr>
        <p:spPr/>
        <p:txBody>
          <a:bodyPr/>
          <a:lstStyle/>
          <a:p>
            <a:fld id="{E34BBA37-7D1A-A84E-BC91-3C70722AA186}" type="slidenum">
              <a:rPr lang="en-US" smtClean="0"/>
              <a:t>11</a:t>
            </a:fld>
            <a:endParaRPr lang="en-US"/>
          </a:p>
        </p:txBody>
      </p:sp>
    </p:spTree>
    <p:extLst>
      <p:ext uri="{BB962C8B-B14F-4D97-AF65-F5344CB8AC3E}">
        <p14:creationId xmlns:p14="http://schemas.microsoft.com/office/powerpoint/2010/main" val="1140057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can add related images through the image identification feature. Using CNN, the image learns key features and displays the user with an output of the information it learns.</a:t>
            </a:r>
          </a:p>
          <a:p>
            <a:endParaRPr lang="en-US" dirty="0"/>
          </a:p>
          <a:p>
            <a:r>
              <a:rPr lang="en-US" dirty="0"/>
              <a:t>The same is true for Sound identification, but first, the user records audio. That audio file is then saved and resized into a spectrogram, and the same process begins for sound classification. Both use CNN to learn and display to the user what the model thinks the outcome is. Data augmentation, such as fine-tuning and dropout, ReLU allows the system to focus only on relevant parts to achieve results and explain (what epochs mean) </a:t>
            </a:r>
          </a:p>
        </p:txBody>
      </p:sp>
      <p:sp>
        <p:nvSpPr>
          <p:cNvPr id="4" name="Slide Number Placeholder 3"/>
          <p:cNvSpPr>
            <a:spLocks noGrp="1"/>
          </p:cNvSpPr>
          <p:nvPr>
            <p:ph type="sldNum" sz="quarter" idx="5"/>
          </p:nvPr>
        </p:nvSpPr>
        <p:spPr/>
        <p:txBody>
          <a:bodyPr/>
          <a:lstStyle/>
          <a:p>
            <a:fld id="{E34BBA37-7D1A-A84E-BC91-3C70722AA186}" type="slidenum">
              <a:rPr lang="en-US" smtClean="0"/>
              <a:t>12</a:t>
            </a:fld>
            <a:endParaRPr lang="en-US"/>
          </a:p>
        </p:txBody>
      </p:sp>
    </p:spTree>
    <p:extLst>
      <p:ext uri="{BB962C8B-B14F-4D97-AF65-F5344CB8AC3E}">
        <p14:creationId xmlns:p14="http://schemas.microsoft.com/office/powerpoint/2010/main" val="23554903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4BBA37-7D1A-A84E-BC91-3C70722AA186}" type="slidenum">
              <a:rPr lang="en-US" smtClean="0"/>
              <a:t>13</a:t>
            </a:fld>
            <a:endParaRPr lang="en-US"/>
          </a:p>
        </p:txBody>
      </p:sp>
    </p:spTree>
    <p:extLst>
      <p:ext uri="{BB962C8B-B14F-4D97-AF65-F5344CB8AC3E}">
        <p14:creationId xmlns:p14="http://schemas.microsoft.com/office/powerpoint/2010/main" val="3794448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user can use AR to see the markers that were by them in real time and expand to bigger communities where they can see others' findings, creating a sense of community and expanding.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Users can use their phone, and simply by using their phone, real-time detection will be made of what bird it is and key information it is – helping it to become an educational tool for users to use.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refining the educational tool, users will have more of an option to filter through large varieties of birds to help them narrow down the search and help them name their bird findings and even learn from it the use of filtering, for example, by location, colour and you will be a starting point for this future engagement.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34BBA37-7D1A-A84E-BC91-3C70722AA186}" type="slidenum">
              <a:rPr lang="en-US" smtClean="0"/>
              <a:t>14</a:t>
            </a:fld>
            <a:endParaRPr lang="en-US"/>
          </a:p>
        </p:txBody>
      </p:sp>
    </p:spTree>
    <p:extLst>
      <p:ext uri="{BB962C8B-B14F-4D97-AF65-F5344CB8AC3E}">
        <p14:creationId xmlns:p14="http://schemas.microsoft.com/office/powerpoint/2010/main" val="729918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4BBA37-7D1A-A84E-BC91-3C70722AA186}" type="slidenum">
              <a:rPr lang="en-US" smtClean="0"/>
              <a:t>15</a:t>
            </a:fld>
            <a:endParaRPr lang="en-US"/>
          </a:p>
        </p:txBody>
      </p:sp>
    </p:spTree>
    <p:extLst>
      <p:ext uri="{BB962C8B-B14F-4D97-AF65-F5344CB8AC3E}">
        <p14:creationId xmlns:p14="http://schemas.microsoft.com/office/powerpoint/2010/main" val="1817014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1/31/25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61922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1/31/25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51328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1/31/25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12332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1/31/25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29469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1/31/25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40819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1/31/25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49674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1/31/25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552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1/31/25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39467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1/31/25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44046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1/31/25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219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1/31/25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92186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1/31/25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39934325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7" r:id="rId10"/>
    <p:sldLayoutId id="2147483706"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en.wikipedia.org/wiki/Free_will_in_antiquity" TargetMode="External"/><Relationship Id="rId3" Type="http://schemas.openxmlformats.org/officeDocument/2006/relationships/image" Target="../media/image2.jp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a-z-animals.com/blog/what-is-the-cambrian-explosion-and-why-does-it-matter/" TargetMode="External"/><Relationship Id="rId5" Type="http://schemas.openxmlformats.org/officeDocument/2006/relationships/image" Target="../media/image3.jpg"/><Relationship Id="rId10" Type="http://schemas.openxmlformats.org/officeDocument/2006/relationships/hyperlink" Target="https://courses.lumenlearning.com/musicappreciation_with_theory/chapter/musical-innovations-in-the-baroque-era/" TargetMode="External"/><Relationship Id="rId4" Type="http://schemas.openxmlformats.org/officeDocument/2006/relationships/hyperlink" Target="https://de.wikipedia.org/wiki/Dicynodontia" TargetMode="External"/><Relationship Id="rId9"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pixabay.com/en/question-mark-why-question-1829459/"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pngall.com/aim-png/download/4995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s://smlpoints.com/notes-create-your-react-ui-componet-library-6.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peerj.com/articles/cs-248/" TargetMode="Externa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pxhere.com/en/photo/997506"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E5473D2-DD46-DFAF-84EC-264D6CE58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alcon against a blue sky">
            <a:extLst>
              <a:ext uri="{FF2B5EF4-FFF2-40B4-BE49-F238E27FC236}">
                <a16:creationId xmlns:a16="http://schemas.microsoft.com/office/drawing/2014/main" id="{0360F4CE-760E-28C9-FB3E-7AD1C44216BE}"/>
              </a:ext>
            </a:extLst>
          </p:cNvPr>
          <p:cNvPicPr>
            <a:picLocks noChangeAspect="1"/>
          </p:cNvPicPr>
          <p:nvPr/>
        </p:nvPicPr>
        <p:blipFill>
          <a:blip r:embed="rId3"/>
          <a:srcRect l="2629" r="39895" b="1"/>
          <a:stretch/>
        </p:blipFill>
        <p:spPr>
          <a:xfrm>
            <a:off x="2" y="10"/>
            <a:ext cx="7367752" cy="6857990"/>
          </a:xfrm>
          <a:prstGeom prst="rect">
            <a:avLst/>
          </a:prstGeom>
        </p:spPr>
      </p:pic>
      <p:sp>
        <p:nvSpPr>
          <p:cNvPr id="2" name="Title 1">
            <a:extLst>
              <a:ext uri="{FF2B5EF4-FFF2-40B4-BE49-F238E27FC236}">
                <a16:creationId xmlns:a16="http://schemas.microsoft.com/office/drawing/2014/main" id="{46A263DC-06DA-53AB-CDA4-B6B8D76E7AD3}"/>
              </a:ext>
            </a:extLst>
          </p:cNvPr>
          <p:cNvSpPr>
            <a:spLocks noGrp="1"/>
          </p:cNvSpPr>
          <p:nvPr>
            <p:ph type="ctrTitle"/>
          </p:nvPr>
        </p:nvSpPr>
        <p:spPr>
          <a:xfrm>
            <a:off x="7843394" y="1585762"/>
            <a:ext cx="3788767" cy="2811737"/>
          </a:xfrm>
        </p:spPr>
        <p:txBody>
          <a:bodyPr>
            <a:normAutofit/>
          </a:bodyPr>
          <a:lstStyle/>
          <a:p>
            <a:pPr algn="l"/>
            <a:r>
              <a:rPr lang="en-US" sz="3700" dirty="0"/>
              <a:t>Bird Biodiversity Monitoring Mobile App (BBMMA)</a:t>
            </a:r>
          </a:p>
        </p:txBody>
      </p:sp>
      <p:sp>
        <p:nvSpPr>
          <p:cNvPr id="3" name="Subtitle 2">
            <a:extLst>
              <a:ext uri="{FF2B5EF4-FFF2-40B4-BE49-F238E27FC236}">
                <a16:creationId xmlns:a16="http://schemas.microsoft.com/office/drawing/2014/main" id="{26249878-8100-02C8-BE93-C3E434B81224}"/>
              </a:ext>
            </a:extLst>
          </p:cNvPr>
          <p:cNvSpPr>
            <a:spLocks noGrp="1"/>
          </p:cNvSpPr>
          <p:nvPr>
            <p:ph type="subTitle" idx="1"/>
          </p:nvPr>
        </p:nvSpPr>
        <p:spPr>
          <a:xfrm>
            <a:off x="7843395" y="4524046"/>
            <a:ext cx="3614857" cy="1319951"/>
          </a:xfrm>
        </p:spPr>
        <p:txBody>
          <a:bodyPr>
            <a:normAutofit/>
          </a:bodyPr>
          <a:lstStyle/>
          <a:p>
            <a:pPr algn="l"/>
            <a:r>
              <a:rPr lang="en-US" dirty="0"/>
              <a:t>Aditya Vashist</a:t>
            </a:r>
          </a:p>
          <a:p>
            <a:pPr algn="l"/>
            <a:r>
              <a:rPr lang="en-US" dirty="0"/>
              <a:t>MSc Computer Science</a:t>
            </a:r>
          </a:p>
        </p:txBody>
      </p:sp>
    </p:spTree>
    <p:extLst>
      <p:ext uri="{BB962C8B-B14F-4D97-AF65-F5344CB8AC3E}">
        <p14:creationId xmlns:p14="http://schemas.microsoft.com/office/powerpoint/2010/main" val="4209169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BBE30-1102-A527-53F9-8DECCE992000}"/>
              </a:ext>
            </a:extLst>
          </p:cNvPr>
          <p:cNvSpPr>
            <a:spLocks noGrp="1"/>
          </p:cNvSpPr>
          <p:nvPr>
            <p:ph type="title"/>
          </p:nvPr>
        </p:nvSpPr>
        <p:spPr/>
        <p:txBody>
          <a:bodyPr/>
          <a:lstStyle/>
          <a:p>
            <a:r>
              <a:rPr lang="en-US" dirty="0"/>
              <a:t>History of Biodiversity </a:t>
            </a:r>
          </a:p>
        </p:txBody>
      </p:sp>
      <p:pic>
        <p:nvPicPr>
          <p:cNvPr id="5" name="Picture 4" descr="A drawing of a large reptile&#10;&#10;AI-generated content may be incorrect.">
            <a:extLst>
              <a:ext uri="{FF2B5EF4-FFF2-40B4-BE49-F238E27FC236}">
                <a16:creationId xmlns:a16="http://schemas.microsoft.com/office/drawing/2014/main" id="{E17497F3-E813-46C5-9836-A48C235DC57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9398000" y="1317423"/>
            <a:ext cx="2794000" cy="1409700"/>
          </a:xfrm>
          <a:prstGeom prst="rect">
            <a:avLst/>
          </a:prstGeom>
        </p:spPr>
      </p:pic>
      <p:pic>
        <p:nvPicPr>
          <p:cNvPr id="8" name="Picture 7" descr="A group of sea creatures&#10;&#10;AI-generated content may be incorrect.">
            <a:extLst>
              <a:ext uri="{FF2B5EF4-FFF2-40B4-BE49-F238E27FC236}">
                <a16:creationId xmlns:a16="http://schemas.microsoft.com/office/drawing/2014/main" id="{83F86DCF-1955-88BD-5C17-B7B85004BF91}"/>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6541869" y="1114769"/>
            <a:ext cx="2687257" cy="1612354"/>
          </a:xfrm>
          <a:prstGeom prst="rect">
            <a:avLst/>
          </a:prstGeom>
        </p:spPr>
      </p:pic>
      <p:pic>
        <p:nvPicPr>
          <p:cNvPr id="14" name="Picture 13" descr="A statue of a person with a beard&#10;&#10;AI-generated content may be incorrect.">
            <a:extLst>
              <a:ext uri="{FF2B5EF4-FFF2-40B4-BE49-F238E27FC236}">
                <a16:creationId xmlns:a16="http://schemas.microsoft.com/office/drawing/2014/main" id="{5746E6C7-FDA9-69ED-BC78-0F49DA4F8F72}"/>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6860697" y="3104017"/>
            <a:ext cx="2067535" cy="2828449"/>
          </a:xfrm>
          <a:prstGeom prst="rect">
            <a:avLst/>
          </a:prstGeom>
        </p:spPr>
      </p:pic>
      <p:pic>
        <p:nvPicPr>
          <p:cNvPr id="17" name="Picture 16" descr="A drawing of a person in a garment&#10;&#10;AI-generated content may be incorrect.">
            <a:extLst>
              <a:ext uri="{FF2B5EF4-FFF2-40B4-BE49-F238E27FC236}">
                <a16:creationId xmlns:a16="http://schemas.microsoft.com/office/drawing/2014/main" id="{9AC63E6B-9575-4020-A379-A21BDAAB8C43}"/>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9710212" y="3648551"/>
            <a:ext cx="1869141" cy="2633531"/>
          </a:xfrm>
          <a:prstGeom prst="rect">
            <a:avLst/>
          </a:prstGeom>
        </p:spPr>
      </p:pic>
      <p:sp>
        <p:nvSpPr>
          <p:cNvPr id="19" name="TextBox 18">
            <a:extLst>
              <a:ext uri="{FF2B5EF4-FFF2-40B4-BE49-F238E27FC236}">
                <a16:creationId xmlns:a16="http://schemas.microsoft.com/office/drawing/2014/main" id="{97AC32A9-60CF-9A8D-427A-A0489A6095AA}"/>
              </a:ext>
            </a:extLst>
          </p:cNvPr>
          <p:cNvSpPr txBox="1"/>
          <p:nvPr/>
        </p:nvSpPr>
        <p:spPr>
          <a:xfrm>
            <a:off x="612647" y="2963748"/>
            <a:ext cx="5696871" cy="1369606"/>
          </a:xfrm>
          <a:prstGeom prst="rect">
            <a:avLst/>
          </a:prstGeom>
          <a:noFill/>
        </p:spPr>
        <p:txBody>
          <a:bodyPr wrap="square">
            <a:spAutoFit/>
          </a:bodyPr>
          <a:lstStyle/>
          <a:p>
            <a:pPr marL="0" indent="0" algn="just">
              <a:buNone/>
            </a:pPr>
            <a:r>
              <a:rPr lang="en-US" dirty="0">
                <a:latin typeface="Arial" panose="020B0604020202020204" pitchFamily="34" charset="0"/>
                <a:cs typeface="Arial" panose="020B0604020202020204" pitchFamily="34" charset="0"/>
              </a:rPr>
              <a:t>~ 540 million years – Cambrian Explosion </a:t>
            </a:r>
          </a:p>
          <a:p>
            <a:pPr marL="0" indent="0" algn="just">
              <a:buNone/>
            </a:pPr>
            <a:r>
              <a:rPr lang="en-US" dirty="0">
                <a:latin typeface="Arial" panose="020B0604020202020204" pitchFamily="34" charset="0"/>
                <a:cs typeface="Arial" panose="020B0604020202020204" pitchFamily="34" charset="0"/>
              </a:rPr>
              <a:t>~ 250 million years -  Permian-Triassic</a:t>
            </a:r>
          </a:p>
          <a:p>
            <a:pPr marL="0" indent="0" algn="just">
              <a:buNone/>
            </a:pPr>
            <a:r>
              <a:rPr lang="en-US" dirty="0">
                <a:latin typeface="Arial" panose="020B0604020202020204" pitchFamily="34" charset="0"/>
                <a:cs typeface="Arial" panose="020B0604020202020204" pitchFamily="34" charset="0"/>
              </a:rPr>
              <a:t>~ 350 BCE - Aristotle’s Classification System </a:t>
            </a:r>
          </a:p>
          <a:p>
            <a:pPr marL="0" indent="0" algn="just">
              <a:buNone/>
            </a:pPr>
            <a:r>
              <a:rPr lang="en-US" dirty="0">
                <a:latin typeface="Arial" panose="020B0604020202020204" pitchFamily="34" charset="0"/>
                <a:cs typeface="Arial" panose="020B0604020202020204" pitchFamily="34" charset="0"/>
              </a:rPr>
              <a:t>17</a:t>
            </a:r>
            <a:r>
              <a:rPr lang="en-US" baseline="30000" dirty="0">
                <a:latin typeface="Arial" panose="020B0604020202020204" pitchFamily="34" charset="0"/>
                <a:cs typeface="Arial" panose="020B0604020202020204" pitchFamily="34" charset="0"/>
              </a:rPr>
              <a:t>th</a:t>
            </a:r>
            <a:r>
              <a:rPr lang="en-US" dirty="0">
                <a:latin typeface="Arial" panose="020B0604020202020204" pitchFamily="34" charset="0"/>
                <a:cs typeface="Arial" panose="020B0604020202020204" pitchFamily="34" charset="0"/>
              </a:rPr>
              <a:t> century – Fixed Biodiversity Belief</a:t>
            </a:r>
          </a:p>
          <a:p>
            <a:pPr marL="0" indent="0">
              <a:buNone/>
            </a:pP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4794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8517C-9FFF-E418-E5B9-F3FD89EE575B}"/>
              </a:ext>
            </a:extLst>
          </p:cNvPr>
          <p:cNvSpPr>
            <a:spLocks noGrp="1"/>
          </p:cNvSpPr>
          <p:nvPr>
            <p:ph type="title"/>
          </p:nvPr>
        </p:nvSpPr>
        <p:spPr/>
        <p:txBody>
          <a:bodyPr/>
          <a:lstStyle/>
          <a:p>
            <a:r>
              <a:rPr lang="en-US" dirty="0"/>
              <a:t>Answering the big question --- WHY?</a:t>
            </a:r>
          </a:p>
        </p:txBody>
      </p:sp>
      <p:pic>
        <p:nvPicPr>
          <p:cNvPr id="5" name="Content Placeholder 4" descr="A cartoon character next to a question mark&#10;&#10;AI-generated content may be incorrect.">
            <a:extLst>
              <a:ext uri="{FF2B5EF4-FFF2-40B4-BE49-F238E27FC236}">
                <a16:creationId xmlns:a16="http://schemas.microsoft.com/office/drawing/2014/main" id="{C861D757-4398-14C3-9B06-0425CE407F1E}"/>
              </a:ext>
            </a:extLst>
          </p:cNvPr>
          <p:cNvPicPr>
            <a:picLocks noGrp="1" noChangeAspect="1"/>
          </p:cNvPicPr>
          <p:nvPr>
            <p:ph idx="1"/>
          </p:nvPr>
        </p:nvPicPr>
        <p:blipFill>
          <a:blip r:embed="rId3">
            <a:extLst>
              <a:ext uri="{837473B0-CC2E-450A-ABE3-18F120FF3D39}">
                <a1611:picAttrSrcUrl xmlns:a1611="http://schemas.microsoft.com/office/drawing/2016/11/main" r:id="rId4"/>
              </a:ext>
            </a:extLst>
          </a:blip>
          <a:stretch>
            <a:fillRect/>
          </a:stretch>
        </p:blipFill>
        <p:spPr>
          <a:xfrm>
            <a:off x="7233920" y="2397663"/>
            <a:ext cx="4607074" cy="3484342"/>
          </a:xfrm>
        </p:spPr>
      </p:pic>
      <p:sp>
        <p:nvSpPr>
          <p:cNvPr id="6" name="TextBox 5">
            <a:extLst>
              <a:ext uri="{FF2B5EF4-FFF2-40B4-BE49-F238E27FC236}">
                <a16:creationId xmlns:a16="http://schemas.microsoft.com/office/drawing/2014/main" id="{BC7BD046-8627-AC08-5620-704BA367C407}"/>
              </a:ext>
            </a:extLst>
          </p:cNvPr>
          <p:cNvSpPr txBox="1"/>
          <p:nvPr/>
        </p:nvSpPr>
        <p:spPr>
          <a:xfrm>
            <a:off x="2300771" y="3428999"/>
            <a:ext cx="3631106" cy="369332"/>
          </a:xfrm>
          <a:prstGeom prst="rect">
            <a:avLst/>
          </a:prstGeom>
          <a:noFill/>
        </p:spPr>
        <p:txBody>
          <a:bodyPr wrap="square">
            <a:spAutoFit/>
          </a:bodyPr>
          <a:lstStyle/>
          <a:p>
            <a:pPr marL="0" indent="0" algn="just">
              <a:buNone/>
            </a:pPr>
            <a:r>
              <a:rPr lang="en-US" dirty="0"/>
              <a:t>Observe, Record and Monitor </a:t>
            </a:r>
          </a:p>
        </p:txBody>
      </p:sp>
    </p:spTree>
    <p:extLst>
      <p:ext uri="{BB962C8B-B14F-4D97-AF65-F5344CB8AC3E}">
        <p14:creationId xmlns:p14="http://schemas.microsoft.com/office/powerpoint/2010/main" val="4020123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5B763-6F2F-F5C4-F744-CE51AA39FAF4}"/>
              </a:ext>
            </a:extLst>
          </p:cNvPr>
          <p:cNvSpPr>
            <a:spLocks noGrp="1"/>
          </p:cNvSpPr>
          <p:nvPr>
            <p:ph type="title"/>
          </p:nvPr>
        </p:nvSpPr>
        <p:spPr/>
        <p:txBody>
          <a:bodyPr/>
          <a:lstStyle/>
          <a:p>
            <a:r>
              <a:rPr lang="en-US" dirty="0"/>
              <a:t>Aims and Objectives </a:t>
            </a:r>
          </a:p>
        </p:txBody>
      </p:sp>
      <p:pic>
        <p:nvPicPr>
          <p:cNvPr id="5" name="Picture 4" descr="A red dart hitting a target&#10;&#10;AI-generated content may be incorrect.">
            <a:extLst>
              <a:ext uri="{FF2B5EF4-FFF2-40B4-BE49-F238E27FC236}">
                <a16:creationId xmlns:a16="http://schemas.microsoft.com/office/drawing/2014/main" id="{E41FB2AF-FA9B-A505-EE54-5DAE6134804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863840" y="858520"/>
            <a:ext cx="3503986" cy="3861536"/>
          </a:xfrm>
          <a:prstGeom prst="rect">
            <a:avLst/>
          </a:prstGeom>
        </p:spPr>
      </p:pic>
      <p:sp>
        <p:nvSpPr>
          <p:cNvPr id="7" name="TextBox 6">
            <a:extLst>
              <a:ext uri="{FF2B5EF4-FFF2-40B4-BE49-F238E27FC236}">
                <a16:creationId xmlns:a16="http://schemas.microsoft.com/office/drawing/2014/main" id="{4E4FBD00-E1DB-A062-A738-212685077A75}"/>
              </a:ext>
            </a:extLst>
          </p:cNvPr>
          <p:cNvSpPr txBox="1"/>
          <p:nvPr/>
        </p:nvSpPr>
        <p:spPr>
          <a:xfrm>
            <a:off x="612648" y="2600312"/>
            <a:ext cx="5971032" cy="1200329"/>
          </a:xfrm>
          <a:prstGeom prst="rect">
            <a:avLst/>
          </a:prstGeom>
          <a:noFill/>
        </p:spPr>
        <p:txBody>
          <a:bodyPr wrap="square">
            <a:spAutoFit/>
          </a:bodyPr>
          <a:lstStyle/>
          <a:p>
            <a:pPr marL="0" indent="0" algn="just">
              <a:buNone/>
            </a:pPr>
            <a:r>
              <a:rPr lang="en-US" dirty="0"/>
              <a:t>1- Evaluate similar platforms </a:t>
            </a:r>
          </a:p>
          <a:p>
            <a:pPr marL="0" indent="0" algn="just">
              <a:buNone/>
            </a:pPr>
            <a:r>
              <a:rPr lang="en-US" dirty="0"/>
              <a:t>2 – Research suitable Technologies </a:t>
            </a:r>
          </a:p>
          <a:p>
            <a:pPr marL="0" indent="0" algn="just">
              <a:buNone/>
            </a:pPr>
            <a:r>
              <a:rPr lang="en-US" dirty="0"/>
              <a:t>3 – Develop and Build BBMAP</a:t>
            </a:r>
          </a:p>
          <a:p>
            <a:pPr marL="0" indent="0" algn="just">
              <a:buNone/>
            </a:pPr>
            <a:r>
              <a:rPr lang="en-US" dirty="0"/>
              <a:t>4 – Evaluate Feature </a:t>
            </a:r>
          </a:p>
        </p:txBody>
      </p:sp>
    </p:spTree>
    <p:extLst>
      <p:ext uri="{BB962C8B-B14F-4D97-AF65-F5344CB8AC3E}">
        <p14:creationId xmlns:p14="http://schemas.microsoft.com/office/powerpoint/2010/main" val="144681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13711-F51B-D70C-DC5D-D4B03B8B1BAE}"/>
              </a:ext>
            </a:extLst>
          </p:cNvPr>
          <p:cNvSpPr>
            <a:spLocks noGrp="1"/>
          </p:cNvSpPr>
          <p:nvPr>
            <p:ph type="title"/>
          </p:nvPr>
        </p:nvSpPr>
        <p:spPr/>
        <p:txBody>
          <a:bodyPr/>
          <a:lstStyle/>
          <a:p>
            <a:r>
              <a:rPr lang="en-US" dirty="0"/>
              <a:t>Platforms – React Native – Expo </a:t>
            </a:r>
          </a:p>
        </p:txBody>
      </p:sp>
      <p:pic>
        <p:nvPicPr>
          <p:cNvPr id="5" name="Content Placeholder 4" descr="A blue and white symbol&#10;&#10;AI-generated content may be incorrect.">
            <a:extLst>
              <a:ext uri="{FF2B5EF4-FFF2-40B4-BE49-F238E27FC236}">
                <a16:creationId xmlns:a16="http://schemas.microsoft.com/office/drawing/2014/main" id="{C2CDB6FD-6EE6-D46A-E1C9-2C0F1063DFE0}"/>
              </a:ext>
            </a:extLst>
          </p:cNvPr>
          <p:cNvPicPr>
            <a:picLocks noGrp="1" noChangeAspect="1"/>
          </p:cNvPicPr>
          <p:nvPr>
            <p:ph idx="1"/>
          </p:nvPr>
        </p:nvPicPr>
        <p:blipFill>
          <a:blip r:embed="rId3">
            <a:extLst>
              <a:ext uri="{837473B0-CC2E-450A-ABE3-18F120FF3D39}">
                <a1611:picAttrSrcUrl xmlns:a1611="http://schemas.microsoft.com/office/drawing/2016/11/main" r:id="rId4"/>
              </a:ext>
            </a:extLst>
          </a:blip>
          <a:stretch>
            <a:fillRect/>
          </a:stretch>
        </p:blipFill>
        <p:spPr>
          <a:xfrm>
            <a:off x="8137317" y="1422042"/>
            <a:ext cx="3766449" cy="2824837"/>
          </a:xfrm>
        </p:spPr>
      </p:pic>
      <p:pic>
        <p:nvPicPr>
          <p:cNvPr id="1026" name="Picture 2" descr="Building a white-label apps using expo | by vivek neel | Medium">
            <a:extLst>
              <a:ext uri="{FF2B5EF4-FFF2-40B4-BE49-F238E27FC236}">
                <a16:creationId xmlns:a16="http://schemas.microsoft.com/office/drawing/2014/main" id="{E35D5FFD-A0B5-4696-7426-CFAF4C5379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648" y="2181225"/>
            <a:ext cx="6502400" cy="3175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36F2A80-27DB-2B36-2204-743D265F80DA}"/>
              </a:ext>
            </a:extLst>
          </p:cNvPr>
          <p:cNvSpPr txBox="1"/>
          <p:nvPr/>
        </p:nvSpPr>
        <p:spPr>
          <a:xfrm>
            <a:off x="8137317" y="4246879"/>
            <a:ext cx="3587323" cy="923330"/>
          </a:xfrm>
          <a:prstGeom prst="rect">
            <a:avLst/>
          </a:prstGeom>
          <a:noFill/>
        </p:spPr>
        <p:txBody>
          <a:bodyPr wrap="square" rtlCol="0">
            <a:spAutoFit/>
          </a:bodyPr>
          <a:lstStyle/>
          <a:p>
            <a:pPr algn="just"/>
            <a:r>
              <a:rPr lang="en-US" dirty="0"/>
              <a:t>It lets users build mobile applications and allows hot reloading for instant updates </a:t>
            </a:r>
          </a:p>
        </p:txBody>
      </p:sp>
      <p:sp>
        <p:nvSpPr>
          <p:cNvPr id="9" name="TextBox 8">
            <a:extLst>
              <a:ext uri="{FF2B5EF4-FFF2-40B4-BE49-F238E27FC236}">
                <a16:creationId xmlns:a16="http://schemas.microsoft.com/office/drawing/2014/main" id="{D90454DE-C70B-12CF-AA23-472FC8CFA525}"/>
              </a:ext>
            </a:extLst>
          </p:cNvPr>
          <p:cNvSpPr txBox="1"/>
          <p:nvPr/>
        </p:nvSpPr>
        <p:spPr>
          <a:xfrm>
            <a:off x="2070186" y="4894560"/>
            <a:ext cx="4330614" cy="646331"/>
          </a:xfrm>
          <a:prstGeom prst="rect">
            <a:avLst/>
          </a:prstGeom>
          <a:noFill/>
        </p:spPr>
        <p:txBody>
          <a:bodyPr wrap="square" rtlCol="0">
            <a:spAutoFit/>
          </a:bodyPr>
          <a:lstStyle/>
          <a:p>
            <a:pPr algn="just"/>
            <a:r>
              <a:rPr lang="en-US" dirty="0"/>
              <a:t>An open-source framework, where uses can find pre-built libraries</a:t>
            </a:r>
          </a:p>
        </p:txBody>
      </p:sp>
    </p:spTree>
    <p:extLst>
      <p:ext uri="{BB962C8B-B14F-4D97-AF65-F5344CB8AC3E}">
        <p14:creationId xmlns:p14="http://schemas.microsoft.com/office/powerpoint/2010/main" val="2965115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7CD8C7-DDB4-74BB-A966-72CBE53D6939}"/>
              </a:ext>
            </a:extLst>
          </p:cNvPr>
          <p:cNvSpPr>
            <a:spLocks noGrp="1"/>
          </p:cNvSpPr>
          <p:nvPr>
            <p:ph type="title"/>
          </p:nvPr>
        </p:nvSpPr>
        <p:spPr>
          <a:xfrm>
            <a:off x="5906802" y="603504"/>
            <a:ext cx="5577902" cy="1527048"/>
          </a:xfrm>
        </p:spPr>
        <p:txBody>
          <a:bodyPr anchor="b">
            <a:normAutofit/>
          </a:bodyPr>
          <a:lstStyle/>
          <a:p>
            <a:r>
              <a:rPr lang="en-US" dirty="0"/>
              <a:t>Welcome</a:t>
            </a:r>
          </a:p>
        </p:txBody>
      </p:sp>
      <p:pic>
        <p:nvPicPr>
          <p:cNvPr id="4" name="Content Placeholder 3" descr="A screen shot of a phone&#10;&#10;AI-generated content may be incorrect.">
            <a:extLst>
              <a:ext uri="{FF2B5EF4-FFF2-40B4-BE49-F238E27FC236}">
                <a16:creationId xmlns:a16="http://schemas.microsoft.com/office/drawing/2014/main" id="{6651FFD6-AC74-87CA-32B3-4982AA3FF85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863" t="1593" r="9811" b="2965"/>
          <a:stretch/>
        </p:blipFill>
        <p:spPr bwMode="auto">
          <a:xfrm>
            <a:off x="1547568" y="433384"/>
            <a:ext cx="2811665" cy="6019618"/>
          </a:xfrm>
          <a:prstGeom prst="rect">
            <a:avLst/>
          </a:prstGeom>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95D53A42-A583-988E-4B09-E392A0AED368}"/>
              </a:ext>
            </a:extLst>
          </p:cNvPr>
          <p:cNvSpPr txBox="1"/>
          <p:nvPr/>
        </p:nvSpPr>
        <p:spPr>
          <a:xfrm>
            <a:off x="5906801" y="2734056"/>
            <a:ext cx="5147279" cy="937768"/>
          </a:xfrm>
          <a:prstGeom prst="rect">
            <a:avLst/>
          </a:prstGeom>
          <a:noFill/>
        </p:spPr>
        <p:txBody>
          <a:bodyPr wrap="square" rtlCol="0">
            <a:spAutoFit/>
          </a:bodyPr>
          <a:lstStyle/>
          <a:p>
            <a:pPr algn="just"/>
            <a:r>
              <a:rPr lang="en-US" dirty="0"/>
              <a:t>Providing the user with the welcome screen when they open the app so they can start their biodiversity adventures.</a:t>
            </a:r>
          </a:p>
        </p:txBody>
      </p:sp>
    </p:spTree>
    <p:extLst>
      <p:ext uri="{BB962C8B-B14F-4D97-AF65-F5344CB8AC3E}">
        <p14:creationId xmlns:p14="http://schemas.microsoft.com/office/powerpoint/2010/main" val="702861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291AF3-E149-5538-C683-0EC4FF33B8E1}"/>
              </a:ext>
            </a:extLst>
          </p:cNvPr>
          <p:cNvSpPr>
            <a:spLocks noGrp="1"/>
          </p:cNvSpPr>
          <p:nvPr>
            <p:ph type="title"/>
          </p:nvPr>
        </p:nvSpPr>
        <p:spPr>
          <a:xfrm>
            <a:off x="5906802" y="603504"/>
            <a:ext cx="5577902" cy="1527048"/>
          </a:xfrm>
        </p:spPr>
        <p:txBody>
          <a:bodyPr anchor="b">
            <a:normAutofit/>
          </a:bodyPr>
          <a:lstStyle/>
          <a:p>
            <a:r>
              <a:rPr lang="en-US" dirty="0"/>
              <a:t>Landing Page</a:t>
            </a:r>
          </a:p>
        </p:txBody>
      </p:sp>
      <p:pic>
        <p:nvPicPr>
          <p:cNvPr id="7" name="Content Placeholder 6" descr="A screenshot of a cell phone&#10;&#10;AI-generated content may be incorrect.">
            <a:extLst>
              <a:ext uri="{FF2B5EF4-FFF2-40B4-BE49-F238E27FC236}">
                <a16:creationId xmlns:a16="http://schemas.microsoft.com/office/drawing/2014/main" id="{7D235375-F010-C51C-26DA-DBD8CCCBB36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118" t="2936" b="2694"/>
          <a:stretch/>
        </p:blipFill>
        <p:spPr bwMode="auto">
          <a:xfrm>
            <a:off x="1516164" y="433384"/>
            <a:ext cx="2874474" cy="6019618"/>
          </a:xfrm>
          <a:prstGeom prst="rect">
            <a:avLst/>
          </a:prstGeom>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F9B675EF-9A54-00C4-5574-D9E5CE010667}"/>
              </a:ext>
            </a:extLst>
          </p:cNvPr>
          <p:cNvSpPr txBox="1"/>
          <p:nvPr/>
        </p:nvSpPr>
        <p:spPr>
          <a:xfrm>
            <a:off x="5906801" y="2734056"/>
            <a:ext cx="5147279" cy="646331"/>
          </a:xfrm>
          <a:prstGeom prst="rect">
            <a:avLst/>
          </a:prstGeom>
          <a:noFill/>
        </p:spPr>
        <p:txBody>
          <a:bodyPr wrap="square" rtlCol="0">
            <a:spAutoFit/>
          </a:bodyPr>
          <a:lstStyle/>
          <a:p>
            <a:pPr algn="just"/>
            <a:r>
              <a:rPr lang="en-US" dirty="0"/>
              <a:t>A place where users can go to each section of the application.</a:t>
            </a:r>
          </a:p>
        </p:txBody>
      </p:sp>
    </p:spTree>
    <p:extLst>
      <p:ext uri="{BB962C8B-B14F-4D97-AF65-F5344CB8AC3E}">
        <p14:creationId xmlns:p14="http://schemas.microsoft.com/office/powerpoint/2010/main" val="4106873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AB9B8B4-6AA0-6EC2-5180-35BA3CFC2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phone&#10;&#10;AI-generated content may be incorrect.">
            <a:extLst>
              <a:ext uri="{FF2B5EF4-FFF2-40B4-BE49-F238E27FC236}">
                <a16:creationId xmlns:a16="http://schemas.microsoft.com/office/drawing/2014/main" id="{C47F0D94-8645-31DE-811F-235C07341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0926" y="1680898"/>
            <a:ext cx="2165518" cy="4488121"/>
          </a:xfrm>
          <a:prstGeom prst="rect">
            <a:avLst/>
          </a:prstGeom>
        </p:spPr>
      </p:pic>
      <p:pic>
        <p:nvPicPr>
          <p:cNvPr id="4" name="Picture 3" descr="A screenshot of a phone&#10;&#10;AI-generated content may be incorrect.">
            <a:extLst>
              <a:ext uri="{FF2B5EF4-FFF2-40B4-BE49-F238E27FC236}">
                <a16:creationId xmlns:a16="http://schemas.microsoft.com/office/drawing/2014/main" id="{4A6E54DB-E33B-947F-741F-399E36BACFE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7437" t="2716" b="7077"/>
          <a:stretch/>
        </p:blipFill>
        <p:spPr bwMode="auto">
          <a:xfrm>
            <a:off x="642203" y="1658019"/>
            <a:ext cx="2245636" cy="4489186"/>
          </a:xfrm>
          <a:prstGeom prst="rect">
            <a:avLst/>
          </a:prstGeom>
          <a:extLst>
            <a:ext uri="{53640926-AAD7-44D8-BBD7-CCE9431645EC}">
              <a14:shadowObscured xmlns:a14="http://schemas.microsoft.com/office/drawing/2010/main"/>
            </a:ext>
          </a:extLst>
        </p:spPr>
      </p:pic>
      <p:sp>
        <p:nvSpPr>
          <p:cNvPr id="2" name="Title 1">
            <a:extLst>
              <a:ext uri="{FF2B5EF4-FFF2-40B4-BE49-F238E27FC236}">
                <a16:creationId xmlns:a16="http://schemas.microsoft.com/office/drawing/2014/main" id="{B80077F0-4C63-12D9-C06A-51E8295737FD}"/>
              </a:ext>
            </a:extLst>
          </p:cNvPr>
          <p:cNvSpPr>
            <a:spLocks noGrp="1"/>
          </p:cNvSpPr>
          <p:nvPr>
            <p:ph type="title"/>
          </p:nvPr>
        </p:nvSpPr>
        <p:spPr>
          <a:xfrm>
            <a:off x="612647" y="548640"/>
            <a:ext cx="10872216" cy="1132258"/>
          </a:xfrm>
        </p:spPr>
        <p:txBody>
          <a:bodyPr anchor="t">
            <a:normAutofit/>
          </a:bodyPr>
          <a:lstStyle/>
          <a:p>
            <a:r>
              <a:rPr lang="en-US" dirty="0"/>
              <a:t>Photo Identification and Sound Identification </a:t>
            </a:r>
          </a:p>
        </p:txBody>
      </p:sp>
      <p:sp>
        <p:nvSpPr>
          <p:cNvPr id="6" name="TextBox 5">
            <a:extLst>
              <a:ext uri="{FF2B5EF4-FFF2-40B4-BE49-F238E27FC236}">
                <a16:creationId xmlns:a16="http://schemas.microsoft.com/office/drawing/2014/main" id="{DD50A56F-70F9-D672-AD98-89B754F7995F}"/>
              </a:ext>
            </a:extLst>
          </p:cNvPr>
          <p:cNvSpPr txBox="1"/>
          <p:nvPr/>
        </p:nvSpPr>
        <p:spPr>
          <a:xfrm>
            <a:off x="6470582" y="1708966"/>
            <a:ext cx="5147279" cy="2308324"/>
          </a:xfrm>
          <a:prstGeom prst="rect">
            <a:avLst/>
          </a:prstGeom>
          <a:noFill/>
        </p:spPr>
        <p:txBody>
          <a:bodyPr wrap="square" rtlCol="0">
            <a:spAutoFit/>
          </a:bodyPr>
          <a:lstStyle/>
          <a:p>
            <a:pPr algn="just"/>
            <a:r>
              <a:rPr lang="en-US" dirty="0"/>
              <a:t>Users can upload photos from their galleries. When clicked on, the analysis will tell them what bird it is.</a:t>
            </a:r>
          </a:p>
          <a:p>
            <a:pPr algn="just"/>
            <a:endParaRPr lang="en-US" dirty="0"/>
          </a:p>
          <a:p>
            <a:pPr algn="just"/>
            <a:endParaRPr lang="en-US" dirty="0"/>
          </a:p>
          <a:p>
            <a:pPr algn="just"/>
            <a:r>
              <a:rPr lang="en-US" dirty="0"/>
              <a:t>Users can start a recording of their surroundings and get analyse of the bird they discovered.</a:t>
            </a:r>
          </a:p>
        </p:txBody>
      </p:sp>
    </p:spTree>
    <p:extLst>
      <p:ext uri="{BB962C8B-B14F-4D97-AF65-F5344CB8AC3E}">
        <p14:creationId xmlns:p14="http://schemas.microsoft.com/office/powerpoint/2010/main" val="1779458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43803A-0F63-7F4E-D3AD-41705B286E4D}"/>
              </a:ext>
            </a:extLst>
          </p:cNvPr>
          <p:cNvSpPr>
            <a:spLocks noGrp="1"/>
          </p:cNvSpPr>
          <p:nvPr>
            <p:ph type="title"/>
          </p:nvPr>
        </p:nvSpPr>
        <p:spPr>
          <a:xfrm>
            <a:off x="612648" y="603504"/>
            <a:ext cx="5862396" cy="1527048"/>
          </a:xfrm>
        </p:spPr>
        <p:txBody>
          <a:bodyPr anchor="b">
            <a:normAutofit/>
          </a:bodyPr>
          <a:lstStyle/>
          <a:p>
            <a:r>
              <a:rPr lang="en-US" dirty="0"/>
              <a:t>Save  </a:t>
            </a:r>
          </a:p>
        </p:txBody>
      </p:sp>
      <p:pic>
        <p:nvPicPr>
          <p:cNvPr id="4" name="Content Placeholder 3" descr="A screen shot of a phone&#10;&#10;AI-generated content may be incorrect.">
            <a:extLst>
              <a:ext uri="{FF2B5EF4-FFF2-40B4-BE49-F238E27FC236}">
                <a16:creationId xmlns:a16="http://schemas.microsoft.com/office/drawing/2014/main" id="{5E650228-D50F-264F-4A5D-453B68292A71}"/>
              </a:ext>
            </a:extLst>
          </p:cNvPr>
          <p:cNvPicPr>
            <a:picLocks noChangeAspect="1"/>
          </p:cNvPicPr>
          <p:nvPr/>
        </p:nvPicPr>
        <p:blipFill rotWithShape="1">
          <a:blip r:embed="rId3">
            <a:extLst>
              <a:ext uri="{28A0092B-C50C-407E-A947-70E740481C1C}">
                <a14:useLocalDpi xmlns:a14="http://schemas.microsoft.com/office/drawing/2010/main" val="0"/>
              </a:ext>
            </a:extLst>
          </a:blip>
          <a:srcRect l="4372" t="1266" r="1977" b="3340"/>
          <a:stretch/>
        </p:blipFill>
        <p:spPr bwMode="auto">
          <a:xfrm>
            <a:off x="7962127" y="433384"/>
            <a:ext cx="2940041" cy="6019618"/>
          </a:xfrm>
          <a:prstGeom prst="rect">
            <a:avLst/>
          </a:prstGeom>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33AB9973-F4E0-0570-5DA9-ADA421933C8D}"/>
              </a:ext>
            </a:extLst>
          </p:cNvPr>
          <p:cNvSpPr txBox="1"/>
          <p:nvPr/>
        </p:nvSpPr>
        <p:spPr>
          <a:xfrm>
            <a:off x="495846" y="2242864"/>
            <a:ext cx="6717754" cy="369332"/>
          </a:xfrm>
          <a:prstGeom prst="rect">
            <a:avLst/>
          </a:prstGeom>
          <a:noFill/>
        </p:spPr>
        <p:txBody>
          <a:bodyPr wrap="square">
            <a:spAutoFit/>
          </a:bodyPr>
          <a:lstStyle/>
          <a:p>
            <a:pPr algn="just"/>
            <a:r>
              <a:rPr lang="en-US" dirty="0"/>
              <a:t>Users can save their findings with audio</a:t>
            </a:r>
          </a:p>
        </p:txBody>
      </p:sp>
    </p:spTree>
    <p:extLst>
      <p:ext uri="{BB962C8B-B14F-4D97-AF65-F5344CB8AC3E}">
        <p14:creationId xmlns:p14="http://schemas.microsoft.com/office/powerpoint/2010/main" val="11735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8AF616-543F-7F42-D82F-14E6BF757D79}"/>
              </a:ext>
            </a:extLst>
          </p:cNvPr>
          <p:cNvSpPr>
            <a:spLocks noGrp="1"/>
          </p:cNvSpPr>
          <p:nvPr>
            <p:ph type="title"/>
          </p:nvPr>
        </p:nvSpPr>
        <p:spPr>
          <a:xfrm>
            <a:off x="3970232" y="419191"/>
            <a:ext cx="7945488" cy="1527048"/>
          </a:xfrm>
        </p:spPr>
        <p:txBody>
          <a:bodyPr anchor="b">
            <a:normAutofit/>
          </a:bodyPr>
          <a:lstStyle/>
          <a:p>
            <a:r>
              <a:rPr lang="en-US" dirty="0"/>
              <a:t>Educational Guide – “Cheat Sheet”</a:t>
            </a:r>
          </a:p>
        </p:txBody>
      </p:sp>
      <p:pic>
        <p:nvPicPr>
          <p:cNvPr id="4" name="Content Placeholder 3" descr="A screenshot of a cell phone&#10;&#10;AI-generated content may be incorrect.">
            <a:extLst>
              <a:ext uri="{FF2B5EF4-FFF2-40B4-BE49-F238E27FC236}">
                <a16:creationId xmlns:a16="http://schemas.microsoft.com/office/drawing/2014/main" id="{241BFB18-8428-3C0F-E841-27C6ABC6741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20" t="2105" b="4954"/>
          <a:stretch/>
        </p:blipFill>
        <p:spPr bwMode="auto">
          <a:xfrm>
            <a:off x="737617" y="419191"/>
            <a:ext cx="2956336" cy="6019618"/>
          </a:xfrm>
          <a:prstGeom prst="rect">
            <a:avLst/>
          </a:prstGeom>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2755183B-7308-06F0-9CFB-0A6E3C44D1E7}"/>
              </a:ext>
            </a:extLst>
          </p:cNvPr>
          <p:cNvSpPr txBox="1"/>
          <p:nvPr/>
        </p:nvSpPr>
        <p:spPr>
          <a:xfrm>
            <a:off x="4892494" y="3244334"/>
            <a:ext cx="2407011" cy="369332"/>
          </a:xfrm>
          <a:prstGeom prst="rect">
            <a:avLst/>
          </a:prstGeom>
          <a:noFill/>
        </p:spPr>
        <p:txBody>
          <a:bodyPr wrap="square">
            <a:spAutoFit/>
          </a:bodyPr>
          <a:lstStyle/>
          <a:p>
            <a:pPr algn="just"/>
            <a:r>
              <a:rPr lang="en-US" dirty="0"/>
              <a:t>A reference guide</a:t>
            </a:r>
          </a:p>
        </p:txBody>
      </p:sp>
    </p:spTree>
    <p:extLst>
      <p:ext uri="{BB962C8B-B14F-4D97-AF65-F5344CB8AC3E}">
        <p14:creationId xmlns:p14="http://schemas.microsoft.com/office/powerpoint/2010/main" val="1966412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FD5F77-7CA6-F71D-118C-ADE30BEE82FA}"/>
              </a:ext>
            </a:extLst>
          </p:cNvPr>
          <p:cNvSpPr>
            <a:spLocks noGrp="1"/>
          </p:cNvSpPr>
          <p:nvPr>
            <p:ph type="title"/>
          </p:nvPr>
        </p:nvSpPr>
        <p:spPr>
          <a:xfrm>
            <a:off x="612648" y="603504"/>
            <a:ext cx="5862396" cy="1527048"/>
          </a:xfrm>
        </p:spPr>
        <p:txBody>
          <a:bodyPr anchor="b">
            <a:normAutofit/>
          </a:bodyPr>
          <a:lstStyle/>
          <a:p>
            <a:r>
              <a:rPr lang="en-US" dirty="0"/>
              <a:t>Geotagging </a:t>
            </a:r>
          </a:p>
        </p:txBody>
      </p:sp>
      <p:pic>
        <p:nvPicPr>
          <p:cNvPr id="4" name="Content Placeholder 3" descr="A screen shot of a phone&#10;&#10;AI-generated content may be incorrect.">
            <a:extLst>
              <a:ext uri="{FF2B5EF4-FFF2-40B4-BE49-F238E27FC236}">
                <a16:creationId xmlns:a16="http://schemas.microsoft.com/office/drawing/2014/main" id="{0FF0E3EA-3150-2E42-1518-17843523576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241" t="1998" r="4203" b="7122"/>
          <a:stretch/>
        </p:blipFill>
        <p:spPr bwMode="auto">
          <a:xfrm>
            <a:off x="8008321" y="433384"/>
            <a:ext cx="2847653" cy="6019618"/>
          </a:xfrm>
          <a:prstGeom prst="rect">
            <a:avLst/>
          </a:prstGeom>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89221BF2-B398-3669-598C-D61F5FE91640}"/>
              </a:ext>
            </a:extLst>
          </p:cNvPr>
          <p:cNvSpPr txBox="1"/>
          <p:nvPr/>
        </p:nvSpPr>
        <p:spPr>
          <a:xfrm>
            <a:off x="2614950" y="3443193"/>
            <a:ext cx="4057345" cy="369332"/>
          </a:xfrm>
          <a:prstGeom prst="rect">
            <a:avLst/>
          </a:prstGeom>
          <a:noFill/>
        </p:spPr>
        <p:txBody>
          <a:bodyPr wrap="square">
            <a:spAutoFit/>
          </a:bodyPr>
          <a:lstStyle/>
          <a:p>
            <a:pPr algn="just"/>
            <a:r>
              <a:rPr lang="en-US" dirty="0"/>
              <a:t>A place to see user findings of birds</a:t>
            </a:r>
          </a:p>
        </p:txBody>
      </p:sp>
    </p:spTree>
    <p:extLst>
      <p:ext uri="{BB962C8B-B14F-4D97-AF65-F5344CB8AC3E}">
        <p14:creationId xmlns:p14="http://schemas.microsoft.com/office/powerpoint/2010/main" val="4155694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C35C7-5876-803A-DC41-C9EAC1FDCBA8}"/>
              </a:ext>
            </a:extLst>
          </p:cNvPr>
          <p:cNvSpPr>
            <a:spLocks noGrp="1"/>
          </p:cNvSpPr>
          <p:nvPr>
            <p:ph type="title"/>
          </p:nvPr>
        </p:nvSpPr>
        <p:spPr/>
        <p:txBody>
          <a:bodyPr/>
          <a:lstStyle/>
          <a:p>
            <a:r>
              <a:rPr lang="en-US" dirty="0"/>
              <a:t>Deep Learning Model </a:t>
            </a:r>
          </a:p>
        </p:txBody>
      </p:sp>
      <p:pic>
        <p:nvPicPr>
          <p:cNvPr id="4" name="Picture 3" descr="A graph of a line and a line&#10;&#10;AI-generated content may be incorrect.">
            <a:extLst>
              <a:ext uri="{FF2B5EF4-FFF2-40B4-BE49-F238E27FC236}">
                <a16:creationId xmlns:a16="http://schemas.microsoft.com/office/drawing/2014/main" id="{F1D8AD68-CD4B-22EB-14B2-4D25D4750CA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32" t="2477" r="2354" b="4782"/>
          <a:stretch/>
        </p:blipFill>
        <p:spPr bwMode="auto">
          <a:xfrm>
            <a:off x="350520" y="1665514"/>
            <a:ext cx="4777921" cy="1795080"/>
          </a:xfrm>
          <a:prstGeom prst="rect">
            <a:avLst/>
          </a:prstGeom>
          <a:ln>
            <a:noFill/>
          </a:ln>
          <a:extLst>
            <a:ext uri="{53640926-AAD7-44D8-BBD7-CCE9431645EC}">
              <a14:shadowObscured xmlns:a14="http://schemas.microsoft.com/office/drawing/2010/main"/>
            </a:ext>
          </a:extLst>
        </p:spPr>
      </p:pic>
      <p:grpSp>
        <p:nvGrpSpPr>
          <p:cNvPr id="7" name="Group 6">
            <a:extLst>
              <a:ext uri="{FF2B5EF4-FFF2-40B4-BE49-F238E27FC236}">
                <a16:creationId xmlns:a16="http://schemas.microsoft.com/office/drawing/2014/main" id="{CEE02F95-E8B7-C6B0-91A0-C8A13D26F046}"/>
              </a:ext>
            </a:extLst>
          </p:cNvPr>
          <p:cNvGrpSpPr/>
          <p:nvPr/>
        </p:nvGrpSpPr>
        <p:grpSpPr>
          <a:xfrm>
            <a:off x="350520" y="3870409"/>
            <a:ext cx="4777921" cy="2324651"/>
            <a:chOff x="6719299" y="802819"/>
            <a:chExt cx="6348184" cy="2484912"/>
          </a:xfrm>
        </p:grpSpPr>
        <p:pic>
          <p:nvPicPr>
            <p:cNvPr id="5" name="Picture 4" descr="A screenshot of a graph&#10;&#10;AI-generated content may be incorrect.">
              <a:extLst>
                <a:ext uri="{FF2B5EF4-FFF2-40B4-BE49-F238E27FC236}">
                  <a16:creationId xmlns:a16="http://schemas.microsoft.com/office/drawing/2014/main" id="{E247F928-1246-FBCC-6910-F3FC20AD99A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51" t="1" r="6149" b="52093"/>
            <a:stretch/>
          </p:blipFill>
          <p:spPr bwMode="auto">
            <a:xfrm>
              <a:off x="6719299" y="802819"/>
              <a:ext cx="3051425" cy="2484912"/>
            </a:xfrm>
            <a:prstGeom prst="rect">
              <a:avLst/>
            </a:prstGeom>
            <a:ln>
              <a:noFill/>
            </a:ln>
            <a:extLst>
              <a:ext uri="{53640926-AAD7-44D8-BBD7-CCE9431645EC}">
                <a14:shadowObscured xmlns:a14="http://schemas.microsoft.com/office/drawing/2010/main"/>
              </a:ext>
            </a:extLst>
          </p:spPr>
        </p:pic>
        <p:pic>
          <p:nvPicPr>
            <p:cNvPr id="6" name="Picture 5" descr="A screenshot of a graph&#10;&#10;AI-generated content may be incorrect.">
              <a:extLst>
                <a:ext uri="{FF2B5EF4-FFF2-40B4-BE49-F238E27FC236}">
                  <a16:creationId xmlns:a16="http://schemas.microsoft.com/office/drawing/2014/main" id="{AB3341AD-DFE5-9BC9-9E74-727F091CCDA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651" t="50796" r="7711" b="3448"/>
            <a:stretch/>
          </p:blipFill>
          <p:spPr bwMode="auto">
            <a:xfrm>
              <a:off x="10091221" y="922105"/>
              <a:ext cx="2976262" cy="2365626"/>
            </a:xfrm>
            <a:prstGeom prst="rect">
              <a:avLst/>
            </a:prstGeom>
            <a:ln>
              <a:noFill/>
            </a:ln>
            <a:extLst>
              <a:ext uri="{53640926-AAD7-44D8-BBD7-CCE9431645EC}">
                <a14:shadowObscured xmlns:a14="http://schemas.microsoft.com/office/drawing/2010/main"/>
              </a:ext>
            </a:extLst>
          </p:spPr>
        </p:pic>
      </p:grpSp>
      <p:sp>
        <p:nvSpPr>
          <p:cNvPr id="10" name="TextBox 9">
            <a:extLst>
              <a:ext uri="{FF2B5EF4-FFF2-40B4-BE49-F238E27FC236}">
                <a16:creationId xmlns:a16="http://schemas.microsoft.com/office/drawing/2014/main" id="{8D0D543A-F9B4-ED6D-8FA2-E260799C8CFE}"/>
              </a:ext>
            </a:extLst>
          </p:cNvPr>
          <p:cNvSpPr txBox="1"/>
          <p:nvPr/>
        </p:nvSpPr>
        <p:spPr>
          <a:xfrm>
            <a:off x="5845410" y="2408634"/>
            <a:ext cx="4777921" cy="369332"/>
          </a:xfrm>
          <a:prstGeom prst="rect">
            <a:avLst/>
          </a:prstGeom>
          <a:noFill/>
        </p:spPr>
        <p:txBody>
          <a:bodyPr wrap="square">
            <a:spAutoFit/>
          </a:bodyPr>
          <a:lstStyle/>
          <a:p>
            <a:pPr marL="0" indent="0" algn="just">
              <a:buNone/>
            </a:pPr>
            <a:r>
              <a:rPr lang="en-US" dirty="0"/>
              <a:t>Result of Image and Sound CNN model</a:t>
            </a:r>
          </a:p>
        </p:txBody>
      </p:sp>
      <p:pic>
        <p:nvPicPr>
          <p:cNvPr id="12" name="Picture 11" descr="A diagram of a cube&#10;&#10;AI-generated content may be incorrect.">
            <a:extLst>
              <a:ext uri="{FF2B5EF4-FFF2-40B4-BE49-F238E27FC236}">
                <a16:creationId xmlns:a16="http://schemas.microsoft.com/office/drawing/2014/main" id="{8AD13EA6-A7AC-5B56-48C3-B41051A7391E}"/>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6338626" y="3048552"/>
            <a:ext cx="4927600" cy="1866900"/>
          </a:xfrm>
          <a:prstGeom prst="rect">
            <a:avLst/>
          </a:prstGeom>
        </p:spPr>
      </p:pic>
    </p:spTree>
    <p:extLst>
      <p:ext uri="{BB962C8B-B14F-4D97-AF65-F5344CB8AC3E}">
        <p14:creationId xmlns:p14="http://schemas.microsoft.com/office/powerpoint/2010/main" val="455394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E6745-8A8C-0EDB-2C35-3582CCC1900D}"/>
              </a:ext>
            </a:extLst>
          </p:cNvPr>
          <p:cNvSpPr>
            <a:spLocks noGrp="1"/>
          </p:cNvSpPr>
          <p:nvPr>
            <p:ph type="title"/>
          </p:nvPr>
        </p:nvSpPr>
        <p:spPr/>
        <p:txBody>
          <a:bodyPr/>
          <a:lstStyle/>
          <a:p>
            <a:r>
              <a:rPr lang="en-US" dirty="0"/>
              <a:t>Demo</a:t>
            </a:r>
          </a:p>
        </p:txBody>
      </p:sp>
      <p:sp>
        <p:nvSpPr>
          <p:cNvPr id="6" name="TextBox 5">
            <a:extLst>
              <a:ext uri="{FF2B5EF4-FFF2-40B4-BE49-F238E27FC236}">
                <a16:creationId xmlns:a16="http://schemas.microsoft.com/office/drawing/2014/main" id="{4C4D2F98-FF82-7AA7-362F-50AF0A4C3646}"/>
              </a:ext>
            </a:extLst>
          </p:cNvPr>
          <p:cNvSpPr txBox="1"/>
          <p:nvPr/>
        </p:nvSpPr>
        <p:spPr>
          <a:xfrm>
            <a:off x="612648" y="1311566"/>
            <a:ext cx="6717754" cy="369332"/>
          </a:xfrm>
          <a:prstGeom prst="rect">
            <a:avLst/>
          </a:prstGeom>
          <a:noFill/>
        </p:spPr>
        <p:txBody>
          <a:bodyPr wrap="square">
            <a:spAutoFit/>
          </a:bodyPr>
          <a:lstStyle/>
          <a:p>
            <a:pPr algn="just"/>
            <a:r>
              <a:rPr lang="en-US" dirty="0"/>
              <a:t>Let's see how it works</a:t>
            </a:r>
          </a:p>
        </p:txBody>
      </p:sp>
    </p:spTree>
    <p:extLst>
      <p:ext uri="{BB962C8B-B14F-4D97-AF65-F5344CB8AC3E}">
        <p14:creationId xmlns:p14="http://schemas.microsoft.com/office/powerpoint/2010/main" val="3971828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7FC06-59F0-957D-5CCA-658783C9F836}"/>
              </a:ext>
            </a:extLst>
          </p:cNvPr>
          <p:cNvSpPr>
            <a:spLocks noGrp="1"/>
          </p:cNvSpPr>
          <p:nvPr>
            <p:ph type="title"/>
          </p:nvPr>
        </p:nvSpPr>
        <p:spPr/>
        <p:txBody>
          <a:bodyPr/>
          <a:lstStyle/>
          <a:p>
            <a:r>
              <a:rPr lang="en-US" dirty="0"/>
              <a:t>Future Works </a:t>
            </a:r>
          </a:p>
        </p:txBody>
      </p:sp>
      <p:sp>
        <p:nvSpPr>
          <p:cNvPr id="4" name="TextBox 3">
            <a:extLst>
              <a:ext uri="{FF2B5EF4-FFF2-40B4-BE49-F238E27FC236}">
                <a16:creationId xmlns:a16="http://schemas.microsoft.com/office/drawing/2014/main" id="{CA0C64CB-2576-BD45-8D71-DB64A67F8DCC}"/>
              </a:ext>
            </a:extLst>
          </p:cNvPr>
          <p:cNvSpPr txBox="1"/>
          <p:nvPr/>
        </p:nvSpPr>
        <p:spPr>
          <a:xfrm>
            <a:off x="612648" y="2837616"/>
            <a:ext cx="4351259" cy="923330"/>
          </a:xfrm>
          <a:prstGeom prst="rect">
            <a:avLst/>
          </a:prstGeom>
          <a:noFill/>
        </p:spPr>
        <p:txBody>
          <a:bodyPr wrap="square">
            <a:spAutoFit/>
          </a:bodyPr>
          <a:lstStyle/>
          <a:p>
            <a:pPr marL="342900" indent="-342900" algn="just">
              <a:buFont typeface="+mj-lt"/>
              <a:buAutoNum type="arabicPeriod"/>
            </a:pPr>
            <a:r>
              <a:rPr lang="en-US" dirty="0"/>
              <a:t>Augmented Reality</a:t>
            </a:r>
          </a:p>
          <a:p>
            <a:pPr marL="342900" indent="-342900" algn="just">
              <a:buFont typeface="+mj-lt"/>
              <a:buAutoNum type="arabicPeriod"/>
            </a:pPr>
            <a:r>
              <a:rPr lang="en-US" dirty="0"/>
              <a:t>Real-Time Camera Identification</a:t>
            </a:r>
          </a:p>
          <a:p>
            <a:pPr marL="342900" indent="-342900" algn="just">
              <a:buFont typeface="+mj-lt"/>
              <a:buAutoNum type="arabicPeriod"/>
            </a:pPr>
            <a:r>
              <a:rPr lang="en-US" dirty="0"/>
              <a:t>Refining the educational tool</a:t>
            </a:r>
          </a:p>
        </p:txBody>
      </p:sp>
      <p:pic>
        <p:nvPicPr>
          <p:cNvPr id="6" name="Picture 5" descr="A crystal ball on a wooden stand&#10;&#10;AI-generated content may be incorrect.">
            <a:extLst>
              <a:ext uri="{FF2B5EF4-FFF2-40B4-BE49-F238E27FC236}">
                <a16:creationId xmlns:a16="http://schemas.microsoft.com/office/drawing/2014/main" id="{3AC647C2-591E-125F-0180-F9C926B9A5E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968343" y="1932357"/>
            <a:ext cx="2938983" cy="3288908"/>
          </a:xfrm>
          <a:prstGeom prst="rect">
            <a:avLst/>
          </a:prstGeom>
        </p:spPr>
      </p:pic>
    </p:spTree>
    <p:extLst>
      <p:ext uri="{BB962C8B-B14F-4D97-AF65-F5344CB8AC3E}">
        <p14:creationId xmlns:p14="http://schemas.microsoft.com/office/powerpoint/2010/main" val="2573843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6A5B8-B629-6A5B-0147-9F26BF6301BB}"/>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081880876"/>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TotalTime>
  <Words>1365</Words>
  <Application>Microsoft Macintosh PowerPoint</Application>
  <PresentationFormat>Widescreen</PresentationFormat>
  <Paragraphs>130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Neue Haas Grotesk Text Pro</vt:lpstr>
      <vt:lpstr>VanillaVTI</vt:lpstr>
      <vt:lpstr>Bird Biodiversity Monitoring Mobile App (BBMMA)</vt:lpstr>
      <vt:lpstr>History of Biodiversity </vt:lpstr>
      <vt:lpstr>Answering the big question --- WHY?</vt:lpstr>
      <vt:lpstr>Aims and Objectives </vt:lpstr>
      <vt:lpstr>Platforms – React Native – Expo </vt:lpstr>
      <vt:lpstr>Welcome</vt:lpstr>
      <vt:lpstr>Landing Page</vt:lpstr>
      <vt:lpstr>Photo Identification and Sound Identification </vt:lpstr>
      <vt:lpstr>Save  </vt:lpstr>
      <vt:lpstr>Educational Guide – “Cheat Sheet”</vt:lpstr>
      <vt:lpstr>Geotagging </vt:lpstr>
      <vt:lpstr>Deep Learning Model </vt:lpstr>
      <vt:lpstr>Demo</vt:lpstr>
      <vt:lpstr>Future Works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Vashist A (FCES)</dc:creator>
  <cp:lastModifiedBy>Vashist A (FCES)</cp:lastModifiedBy>
  <cp:revision>34</cp:revision>
  <dcterms:created xsi:type="dcterms:W3CDTF">2025-01-31T12:14:02Z</dcterms:created>
  <dcterms:modified xsi:type="dcterms:W3CDTF">2025-01-31T21:29:45Z</dcterms:modified>
</cp:coreProperties>
</file>